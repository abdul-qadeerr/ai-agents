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010" autoAdjust="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362F8-DA11-4592-9175-652F096A76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A4F3A-3AD5-4AA3-AECE-F194C0F7E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1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Computers are </a:t>
            </a:r>
            <a:r>
              <a:rPr lang="en-US" b="1" dirty="0" smtClean="0"/>
              <a:t>deterministic machines</a:t>
            </a:r>
            <a:r>
              <a:rPr lang="en-US" dirty="0" smtClean="0"/>
              <a:t>; they execute instructions based on electrical signals and logic gates. While modern AI can simulate reasoning and adapt to dynamic data, it lacks </a:t>
            </a:r>
            <a:r>
              <a:rPr lang="en-US" b="1" dirty="0" smtClean="0"/>
              <a:t>consciousness, intent, and subjective experience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CA4F3A-3AD5-4AA3-AECE-F194C0F7E4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45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AI Logic &amp; Decision Making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use an AI Agent instead of a simple form or a standard Google Sheets API?"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Conventional forms require strict inputs. An AI Agent allows for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Language Processing (NLP)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user can say,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"Hey, we just received a box of 10 'Atomic Habits' books,"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agent intelligently identifies the book title, the action (increment), and the quantity without the user needing to navigate a complex UI.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does the Agent handle 'Hallucinations' or incorrect book updates?"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implemented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Guardrails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agent doesn't just write to the sheet; it first retrieves the current inventory to verify if the book exists. I also use a "System Prompt" that forces the agent to return data in a specific JSON format, which is then validated by an IF Node before the sheet is updated.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Technical Architecture &amp; Efficiency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"Google Sheets is not a real database. How will this scale if you have 10,000 books?"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a MVP (Minimum Viable Product), Google Sheets is excellent for rapid deployment and visibility. However, n8n is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database-agnostic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the data grows, I can simply swap the Google Sheets node for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Supabase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 without changing the AI logic.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"You encountered 'Rate Limit' errors earlier. How did you solve them for a 'Live' environment?"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used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 Management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techniques. I added a Wait Node to stagger requests and utilized Split in Batches to ensure the AI isn't overwhelmed. In a production environment, I would also implement 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handle high-concurrency requests.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Integration &amp; User Experience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"How do you ensure the website shows 'Real-Time' data if n8n is running in the background?"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use a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Response node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the website sends a request, the n8n workflow doesn't just finish; it sends back the updated row data as a JSON object. The website’s frontend (JavaScript) then immediately updates the table without a page refresh.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"Can this system be integrated with other platforms like WhatsApp or Slack?"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Yes, that is the beauty of n8n. I can add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WhatsApp Business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Telegram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trigger node to the same workflow. The same AI Agent logic would then process messages from those apps and update the same Google Sheet.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Security &amp; Edge Cases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 happens if two people update the same book at the exact same time?"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a 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Concurrency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issue. To handle this, I can set the n8n workflow to "Execute Serially" (one after another) rather than in parallel, ensuring that each "Read-Modify-Write" cycle is completed before the next one starts.</a:t>
            </a:r>
          </a:p>
          <a:p>
            <a:pPr rtl="0"/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"Is the data secure? How do you prevent unauthorized users from deleting your inventory?"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/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Answer: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use </a:t>
            </a:r>
            <a:r>
              <a:rPr lang="en-US" sz="1200" b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Authentication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website sends a secret 'Header' or 'API Key' with every request. If the n8n Header check fails, the workflow terminates immediately before touching the Google Sheet.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CA4F3A-3AD5-4AA3-AECE-F194C0F7E4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17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11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1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8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3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6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7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7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2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1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48D35-4E28-4A11-881F-F754986D8A8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BCA04-6007-4BC9-820F-1F8449DB3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43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ias.edu/von-neumann#:~:text=He%20died%20at%20the%20age,science%2C%20physics%2C%20and%20economics.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33961"/>
            <a:ext cx="12192000" cy="1902692"/>
          </a:xfrm>
        </p:spPr>
        <p:txBody>
          <a:bodyPr>
            <a:noAutofit/>
          </a:bodyPr>
          <a:lstStyle/>
          <a:p>
            <a:r>
              <a:rPr lang="en-US" sz="19900" dirty="0" smtClean="0">
                <a:latin typeface="Haettenschweiler" panose="020B0706040902060204" pitchFamily="34" charset="0"/>
              </a:rPr>
              <a:t>Agentic AI</a:t>
            </a:r>
            <a:br>
              <a:rPr lang="en-US" sz="19900" dirty="0" smtClean="0">
                <a:latin typeface="Haettenschweiler" panose="020B0706040902060204" pitchFamily="34" charset="0"/>
              </a:rPr>
            </a:br>
            <a:endParaRPr lang="en-US" sz="1000" dirty="0">
              <a:latin typeface="Haettenschweiler" panose="020B070604090206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451" y="4903933"/>
            <a:ext cx="802698" cy="41740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701314" y="4779582"/>
            <a:ext cx="3756890" cy="5602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32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846644" y="-231007"/>
            <a:ext cx="3095176" cy="7411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27/April/2026</a:t>
            </a:r>
            <a:endParaRPr lang="en-US" sz="20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4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Haettenschweiler" panose="020B0706040902060204" pitchFamily="34" charset="0"/>
              </a:rPr>
              <a:t>Available </a:t>
            </a:r>
            <a:r>
              <a:rPr lang="en-US" sz="6000" dirty="0">
                <a:latin typeface="Haettenschweiler" panose="020B0706040902060204" pitchFamily="34" charset="0"/>
              </a:rPr>
              <a:t>Platforms</a:t>
            </a:r>
            <a:endParaRPr lang="en-US" sz="2800" dirty="0">
              <a:latin typeface="Haettenschweiler" panose="020B070604090206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FF00"/>
                </a:solidFill>
              </a:rPr>
              <a:t>n8n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00FF00"/>
                </a:solidFill>
              </a:rPr>
              <a:t>make.com</a:t>
            </a: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00FF00"/>
              </a:solidFill>
            </a:endParaRPr>
          </a:p>
          <a:p>
            <a:pPr lvl="1" algn="just">
              <a:lnSpc>
                <a:spcPct val="100000"/>
              </a:lnSpc>
            </a:pPr>
            <a:r>
              <a:rPr lang="en-US" dirty="0"/>
              <a:t>There are many other </a:t>
            </a:r>
            <a:r>
              <a:rPr lang="en-US" dirty="0" smtClean="0"/>
              <a:t>platforms,  </a:t>
            </a:r>
            <a:r>
              <a:rPr lang="en-US" dirty="0"/>
              <a:t>but </a:t>
            </a:r>
            <a:r>
              <a:rPr lang="en-US" dirty="0" smtClean="0"/>
              <a:t>we are going </a:t>
            </a:r>
            <a:r>
              <a:rPr lang="en-US" dirty="0"/>
              <a:t>to use n8n in this.</a:t>
            </a:r>
          </a:p>
          <a:p>
            <a:pPr lvl="1" algn="just">
              <a:lnSpc>
                <a:spcPct val="100000"/>
              </a:lnSpc>
            </a:pPr>
            <a:r>
              <a:rPr lang="en-US" dirty="0"/>
              <a:t>The purpose of using n8n is that it is more flexible and allows us to build detailed frameworks.</a:t>
            </a: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549" y="1903126"/>
            <a:ext cx="854067" cy="3136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788" y="2409804"/>
            <a:ext cx="1595393" cy="3357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53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Haettenschweiler" panose="020B0706040902060204" pitchFamily="34" charset="0"/>
              </a:rPr>
              <a:t>n8n ?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100000"/>
              </a:lnSpc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n8n</a:t>
            </a:r>
            <a:r>
              <a:rPr lang="en-US" dirty="0" smtClean="0"/>
              <a:t> </a:t>
            </a:r>
            <a:r>
              <a:rPr lang="en-US" dirty="0"/>
              <a:t>is an workflow automation </a:t>
            </a:r>
            <a:r>
              <a:rPr lang="en-US" dirty="0" smtClean="0"/>
              <a:t>tool.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More </a:t>
            </a:r>
            <a:r>
              <a:rPr lang="en-US" dirty="0"/>
              <a:t>powerful and </a:t>
            </a:r>
            <a:r>
              <a:rPr lang="en-US" dirty="0" smtClean="0"/>
              <a:t>more customizable.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AI </a:t>
            </a:r>
            <a:r>
              <a:rPr lang="en-US" dirty="0"/>
              <a:t>agents can multiply your </a:t>
            </a:r>
            <a:r>
              <a:rPr lang="en-US" dirty="0" smtClean="0"/>
              <a:t>productivity.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People are making $5k – 15k by selling it.</a:t>
            </a:r>
          </a:p>
          <a:p>
            <a:pPr lvl="1" algn="just">
              <a:lnSpc>
                <a:spcPct val="100000"/>
              </a:lnSpc>
            </a:pPr>
            <a:r>
              <a:rPr lang="en-US" dirty="0" smtClean="0"/>
              <a:t>You need very basic knowledge of logic building No Need to be expert programmer.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9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>
                <a:latin typeface="Haettenschweiler" panose="020B0706040902060204" pitchFamily="34" charset="0"/>
              </a:rPr>
              <a:t>Automation </a:t>
            </a:r>
            <a:r>
              <a:rPr lang="fr-FR" sz="6000" dirty="0">
                <a:latin typeface="Haettenschweiler" panose="020B0706040902060204" pitchFamily="34" charset="0"/>
              </a:rPr>
              <a:t>vs </a:t>
            </a:r>
            <a:r>
              <a:rPr lang="fr-FR" sz="6000" dirty="0" smtClean="0">
                <a:latin typeface="Haettenschweiler" panose="020B0706040902060204" pitchFamily="34" charset="0"/>
              </a:rPr>
              <a:t>AI Agent </a:t>
            </a:r>
            <a:r>
              <a:rPr lang="en-US" sz="6000" dirty="0" smtClean="0">
                <a:latin typeface="Haettenschweiler" panose="020B0706040902060204" pitchFamily="34" charset="0"/>
              </a:rPr>
              <a:t> 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842" y="-80545"/>
            <a:ext cx="2941653" cy="2941653"/>
          </a:xfr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</a:pPr>
            <a:r>
              <a:rPr lang="en-US" b="1" dirty="0">
                <a:solidFill>
                  <a:srgbClr val="00FF00"/>
                </a:solidFill>
              </a:rPr>
              <a:t>Automation = Fixed </a:t>
            </a:r>
            <a:r>
              <a:rPr lang="en-US" b="1" dirty="0" smtClean="0">
                <a:solidFill>
                  <a:srgbClr val="00FF00"/>
                </a:solidFill>
              </a:rPr>
              <a:t>logic</a:t>
            </a:r>
          </a:p>
          <a:p>
            <a:pPr lvl="1" algn="just">
              <a:lnSpc>
                <a:spcPct val="100000"/>
              </a:lnSpc>
            </a:pPr>
            <a:r>
              <a:rPr lang="en-US" b="1" dirty="0" smtClean="0">
                <a:solidFill>
                  <a:srgbClr val="00FF00"/>
                </a:solidFill>
              </a:rPr>
              <a:t>Trigger </a:t>
            </a:r>
            <a:r>
              <a:rPr lang="en-US" b="1" dirty="0">
                <a:solidFill>
                  <a:srgbClr val="00FF00"/>
                </a:solidFill>
              </a:rPr>
              <a:t>→ Action →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4691" y="2974109"/>
            <a:ext cx="9624291" cy="3315855"/>
          </a:xfrm>
          <a:prstGeom prst="roundRect">
            <a:avLst>
              <a:gd name="adj" fmla="val 5804"/>
            </a:avLst>
          </a:prstGeom>
          <a:solidFill>
            <a:schemeClr val="tx1"/>
          </a:solidFill>
          <a:ln w="190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17700" y="4578350"/>
            <a:ext cx="2000250" cy="1085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Trigger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06711" y="4578350"/>
            <a:ext cx="2000250" cy="10858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58200" y="4578350"/>
            <a:ext cx="2000250" cy="10858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Output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0068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961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 txBox="1">
            <a:spLocks/>
          </p:cNvSpPr>
          <p:nvPr/>
        </p:nvSpPr>
        <p:spPr>
          <a:xfrm>
            <a:off x="1394691" y="3063261"/>
            <a:ext cx="96242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Automation Concept </a:t>
            </a:r>
            <a:r>
              <a:rPr lang="en-US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6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>
                <a:latin typeface="Haettenschweiler" panose="020B0706040902060204" pitchFamily="34" charset="0"/>
              </a:rPr>
              <a:t>Automation </a:t>
            </a:r>
            <a:endParaRPr lang="en-US" sz="6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19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723"/>
            <a:ext cx="10515600" cy="1325563"/>
          </a:xfrm>
        </p:spPr>
        <p:txBody>
          <a:bodyPr>
            <a:normAutofit/>
          </a:bodyPr>
          <a:lstStyle/>
          <a:p>
            <a:r>
              <a:rPr lang="fr-FR" sz="6000" dirty="0" smtClean="0">
                <a:latin typeface="Haettenschweiler" panose="020B0706040902060204" pitchFamily="34" charset="0"/>
              </a:rPr>
              <a:t>Automation </a:t>
            </a:r>
            <a:r>
              <a:rPr lang="fr-FR" sz="6000" dirty="0">
                <a:latin typeface="Haettenschweiler" panose="020B0706040902060204" pitchFamily="34" charset="0"/>
              </a:rPr>
              <a:t>vs </a:t>
            </a:r>
            <a:r>
              <a:rPr lang="fr-FR" sz="6000" dirty="0" smtClean="0">
                <a:latin typeface="Haettenschweiler" panose="020B0706040902060204" pitchFamily="34" charset="0"/>
              </a:rPr>
              <a:t>AI Agent </a:t>
            </a:r>
            <a:r>
              <a:rPr lang="en-US" sz="6000" dirty="0" smtClean="0">
                <a:latin typeface="Haettenschweiler" panose="020B0706040902060204" pitchFamily="34" charset="0"/>
              </a:rPr>
              <a:t> </a:t>
            </a:r>
            <a:endParaRPr 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</a:pPr>
            <a:r>
              <a:rPr lang="en-US" b="1" dirty="0" smtClean="0">
                <a:solidFill>
                  <a:srgbClr val="00FF00"/>
                </a:solidFill>
              </a:rPr>
              <a:t>AI Agent </a:t>
            </a:r>
            <a:r>
              <a:rPr lang="en-US" b="1" dirty="0">
                <a:solidFill>
                  <a:srgbClr val="00FF00"/>
                </a:solidFill>
              </a:rPr>
              <a:t>= </a:t>
            </a:r>
            <a:r>
              <a:rPr lang="en-US" b="1" dirty="0" smtClean="0">
                <a:solidFill>
                  <a:srgbClr val="00FF00"/>
                </a:solidFill>
              </a:rPr>
              <a:t>Adaptable to unique situation </a:t>
            </a:r>
          </a:p>
          <a:p>
            <a:pPr lvl="1" algn="just">
              <a:lnSpc>
                <a:spcPct val="100000"/>
              </a:lnSpc>
            </a:pPr>
            <a:r>
              <a:rPr lang="en-US" b="1" dirty="0" smtClean="0">
                <a:solidFill>
                  <a:srgbClr val="00FF00"/>
                </a:solidFill>
              </a:rPr>
              <a:t>Trigger → AI </a:t>
            </a:r>
            <a:r>
              <a:rPr lang="en-US" b="1" dirty="0">
                <a:solidFill>
                  <a:srgbClr val="00FF00"/>
                </a:solidFill>
              </a:rPr>
              <a:t>Action → </a:t>
            </a:r>
            <a:r>
              <a:rPr lang="en-US" b="1" dirty="0" smtClean="0">
                <a:solidFill>
                  <a:srgbClr val="00FF00"/>
                </a:solidFill>
              </a:rPr>
              <a:t>Dynamic Output</a:t>
            </a:r>
            <a:endParaRPr lang="en-US" b="1" dirty="0">
              <a:solidFill>
                <a:srgbClr val="00FF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94691" y="2974109"/>
            <a:ext cx="9624291" cy="3315855"/>
          </a:xfrm>
          <a:prstGeom prst="roundRect">
            <a:avLst>
              <a:gd name="adj" fmla="val 5804"/>
            </a:avLst>
          </a:prstGeom>
          <a:solidFill>
            <a:schemeClr val="tx1"/>
          </a:solidFill>
          <a:ln w="190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917700" y="4578350"/>
            <a:ext cx="2000250" cy="1085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Trigger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06711" y="4578350"/>
            <a:ext cx="2000250" cy="108585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AI 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58200" y="4578350"/>
            <a:ext cx="2000250" cy="10858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Results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0068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96150" y="5121275"/>
            <a:ext cx="1092200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987" y="419749"/>
            <a:ext cx="2545057" cy="2038782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1394691" y="3063261"/>
            <a:ext cx="96242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AI Agent Concept </a:t>
            </a:r>
            <a:r>
              <a:rPr lang="en-US" sz="3600" dirty="0" smtClean="0">
                <a:solidFill>
                  <a:schemeClr val="bg1"/>
                </a:solidFill>
                <a:latin typeface="Haettenschweiler" panose="020B0706040902060204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21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84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5398971" cy="34778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b="1" dirty="0"/>
              <a:t>"</a:t>
            </a:r>
            <a:r>
              <a:rPr lang="en-US" sz="4800" b="1" dirty="0">
                <a:solidFill>
                  <a:srgbClr val="FF0000"/>
                </a:solidFill>
              </a:rPr>
              <a:t>Computers</a:t>
            </a:r>
            <a:r>
              <a:rPr lang="en-US" sz="4800" b="1" dirty="0"/>
              <a:t> are like humans </a:t>
            </a:r>
            <a:r>
              <a:rPr lang="en-US" sz="4800" b="1" dirty="0" smtClean="0"/>
              <a:t>- </a:t>
            </a:r>
            <a:r>
              <a:rPr lang="en-US" sz="4800" b="1" dirty="0"/>
              <a:t>they do everything except </a:t>
            </a:r>
            <a:r>
              <a:rPr lang="en-US" sz="4800" b="1" dirty="0">
                <a:solidFill>
                  <a:srgbClr val="FF0000"/>
                </a:solidFill>
              </a:rPr>
              <a:t>think</a:t>
            </a:r>
            <a:r>
              <a:rPr lang="en-US" sz="4800" b="1" dirty="0" smtClean="0"/>
              <a:t>"</a:t>
            </a:r>
            <a:endParaRPr lang="en-US" sz="4800" dirty="0"/>
          </a:p>
        </p:txBody>
      </p:sp>
      <p:pic>
        <p:nvPicPr>
          <p:cNvPr id="4098" name="Picture 2" descr="John von Neumann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737" y="1463040"/>
            <a:ext cx="2518365" cy="328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5976487" y="5119052"/>
            <a:ext cx="5398971" cy="3477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800" dirty="0">
              <a:latin typeface="+mj-lt"/>
              <a:hlinkClick r:id="rId4"/>
            </a:endParaRP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5976487" y="4899601"/>
            <a:ext cx="6178207" cy="13670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dirty="0"/>
              <a:t>John von </a:t>
            </a:r>
            <a:r>
              <a:rPr lang="en-US" sz="3600" dirty="0" smtClean="0"/>
              <a:t>Neumann</a:t>
            </a:r>
          </a:p>
          <a:p>
            <a:pPr marL="0" indent="0" algn="ctr">
              <a:buNone/>
            </a:pPr>
            <a:r>
              <a:rPr lang="en-US" sz="2000" dirty="0"/>
              <a:t>(</a:t>
            </a:r>
            <a:r>
              <a:rPr lang="en-US" sz="2000" dirty="0" smtClean="0"/>
              <a:t>1903 - 1957</a:t>
            </a:r>
            <a:r>
              <a:rPr lang="en-US" sz="2000" dirty="0"/>
              <a:t>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1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Haettenschweiler" panose="020B0706040902060204" pitchFamily="34" charset="0"/>
              </a:rPr>
              <a:t>SUPER IMP SKILL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FF00"/>
                </a:solidFill>
              </a:rPr>
              <a:t>I</a:t>
            </a:r>
            <a:r>
              <a:rPr lang="en-US" dirty="0" smtClean="0">
                <a:solidFill>
                  <a:srgbClr val="00FF00"/>
                </a:solidFill>
              </a:rPr>
              <a:t>nside </a:t>
            </a:r>
            <a:r>
              <a:rPr lang="en-US" dirty="0">
                <a:solidFill>
                  <a:srgbClr val="00FF00"/>
                </a:solidFill>
              </a:rPr>
              <a:t>the n8n </a:t>
            </a:r>
            <a:r>
              <a:rPr lang="en-US" dirty="0" smtClean="0">
                <a:solidFill>
                  <a:srgbClr val="00FF00"/>
                </a:solidFill>
              </a:rPr>
              <a:t>Interface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Nodes</a:t>
            </a:r>
            <a:r>
              <a:rPr lang="en-US" dirty="0"/>
              <a:t>: Trigger, Action, Utility, Code, </a:t>
            </a:r>
            <a:r>
              <a:rPr lang="en-US" dirty="0" smtClean="0"/>
              <a:t>Agent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99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Haettenschweiler" panose="020B0706040902060204" pitchFamily="34" charset="0"/>
              </a:rPr>
              <a:t>Search on google just </a:t>
            </a:r>
            <a:r>
              <a:rPr lang="en-US" sz="60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“n8n”</a:t>
            </a:r>
            <a:endParaRPr lang="en-US" sz="60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4597" y="3055095"/>
            <a:ext cx="6902805" cy="18923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86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LIVE DEMO - </a:t>
            </a:r>
            <a:r>
              <a:rPr lang="en-US" sz="6000" dirty="0" smtClean="0">
                <a:solidFill>
                  <a:srgbClr val="FFC000"/>
                </a:solidFill>
                <a:latin typeface="Haettenschweiler" panose="020B0706040902060204" pitchFamily="34" charset="0"/>
              </a:rPr>
              <a:t>Lets move to n8n</a:t>
            </a:r>
            <a:endParaRPr lang="en-US" sz="6000" dirty="0">
              <a:solidFill>
                <a:srgbClr val="FFC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903" t="3790" r="5043" b="6399"/>
          <a:stretch/>
        </p:blipFill>
        <p:spPr>
          <a:xfrm>
            <a:off x="709353" y="2030931"/>
            <a:ext cx="10773293" cy="36383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68090"/>
            <a:ext cx="1400936" cy="728487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0" y="6176963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52114"/>
            <a:ext cx="432208" cy="2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8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2861"/>
            <a:ext cx="10515600" cy="100993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3800" dirty="0" smtClean="0">
                <a:latin typeface="Haettenschweiler" panose="020B0706040902060204" pitchFamily="34" charset="0"/>
              </a:rPr>
              <a:t>Q &amp; A Session</a:t>
            </a:r>
            <a:endParaRPr lang="en-US" sz="13800" dirty="0">
              <a:latin typeface="Haettenschweiler" panose="020B070604090206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28761"/>
            <a:ext cx="1400936" cy="72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0" y="6128397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2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5153"/>
            <a:ext cx="10515600" cy="9822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3800" dirty="0" smtClean="0">
                <a:latin typeface="Haettenschweiler" panose="020B0706040902060204" pitchFamily="34" charset="0"/>
              </a:rPr>
              <a:t>Thank You!</a:t>
            </a:r>
            <a:endParaRPr lang="en-US" sz="13800" dirty="0">
              <a:latin typeface="Haettenschweiler" panose="020B070604090206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191816"/>
            <a:ext cx="1400936" cy="7284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6100689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0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578389" cy="1325563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6000" dirty="0" smtClean="0">
                <a:latin typeface="Haettenschweiler" panose="020B0706040902060204" pitchFamily="34" charset="0"/>
              </a:rPr>
              <a:t>Steps to Turn an n8n Workflow Into a Web</a:t>
            </a:r>
            <a:endParaRPr lang="en-US" altLang="en-US" sz="6000" dirty="0">
              <a:latin typeface="Haettenschweiler" panose="020B070604090206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785305"/>
            <a:ext cx="1065436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Webhook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Node: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Use this as your workflow’s starting point to receive data from your website.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Respond to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Webhook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Node: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Place this at the end to send data (like success messages or book lists) back to the user.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Frontend Interface: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Build a simple HTML/JS page or a Flutter Web app to serve as the user dashboard.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Fetch API: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Write JavaScript code on your website to send and receive data from the n8n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Webhook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URL.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Hosting: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Deploy your frontend code on a platform like GitHub Pages,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rgbClr val="00FF00"/>
                </a:solidFill>
                <a:effectLst/>
                <a:latin typeface="Calibri (Body)"/>
              </a:rPr>
              <a:t>Vercel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, or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rgbClr val="00FF00"/>
                </a:solidFill>
                <a:effectLst/>
                <a:latin typeface="Calibri (Body)"/>
              </a:rPr>
              <a:t>Netlify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FF00"/>
                </a:solidFill>
                <a:effectLst/>
                <a:latin typeface="Calibri (Body)"/>
              </a:rPr>
              <a:t>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CORS Configuration: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Calibri (Body)"/>
              </a:rPr>
              <a:t> Update n8n settings to allow your website domain to communicate with the n8n server.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Calibri (Body)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707" y="228761"/>
            <a:ext cx="1400936" cy="728487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6137634"/>
            <a:ext cx="12192000" cy="418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>
                <a:solidFill>
                  <a:srgbClr val="00FF00"/>
                </a:solidFill>
                <a:latin typeface="Haettenschweiler" panose="020B0706040902060204" pitchFamily="34" charset="0"/>
              </a:rPr>
              <a:t>Presented by Malik Qadeer</a:t>
            </a:r>
            <a:endParaRPr lang="en-US" sz="1600" dirty="0">
              <a:solidFill>
                <a:srgbClr val="00FF00"/>
              </a:solidFill>
              <a:latin typeface="Haettenschweiler" panose="020B070604090206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770" y="6312785"/>
            <a:ext cx="432208" cy="2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0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</TotalTime>
  <Words>991</Words>
  <Application>Microsoft Office PowerPoint</Application>
  <PresentationFormat>Widescreen</PresentationFormat>
  <Paragraphs>88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Haettenschweiler</vt:lpstr>
      <vt:lpstr>Office Theme</vt:lpstr>
      <vt:lpstr>Agentic AI </vt:lpstr>
      <vt:lpstr>Available Platforms</vt:lpstr>
      <vt:lpstr>n8n ?</vt:lpstr>
      <vt:lpstr>Automation vs AI Agent  </vt:lpstr>
      <vt:lpstr>Automation </vt:lpstr>
      <vt:lpstr>Automation vs AI Agent  </vt:lpstr>
      <vt:lpstr>PowerPoint Presentation</vt:lpstr>
      <vt:lpstr>SUPER IMP SKILL</vt:lpstr>
      <vt:lpstr>Search on google just “n8n”</vt:lpstr>
      <vt:lpstr>LIVE DEMO - Lets move to n8n</vt:lpstr>
      <vt:lpstr>PowerPoint Presentation</vt:lpstr>
      <vt:lpstr>PowerPoint Presentation</vt:lpstr>
      <vt:lpstr>Steps to Turn an n8n Workflow Into a Web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</dc:title>
  <dc:creator>Abdul Qadeer</dc:creator>
  <cp:lastModifiedBy>Abdul Qadeer</cp:lastModifiedBy>
  <cp:revision>21</cp:revision>
  <dcterms:created xsi:type="dcterms:W3CDTF">2026-04-26T09:08:45Z</dcterms:created>
  <dcterms:modified xsi:type="dcterms:W3CDTF">2026-04-27T06:19:29Z</dcterms:modified>
</cp:coreProperties>
</file>